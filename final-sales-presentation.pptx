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0414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0607"/>
            <a:ext cx="8083296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375"/>
              </a:lnSpc>
              <a:buNone/>
            </a:pPr>
            <a:r>
              <a:rPr lang="en-US" sz="825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📊</a:t>
            </a:r>
            <a:endParaRPr lang="en-US" sz="8250" dirty="0"/>
          </a:p>
        </p:txBody>
      </p:sp>
      <p:sp>
        <p:nvSpPr>
          <p:cNvPr id="3" name="Text 1"/>
          <p:cNvSpPr/>
          <p:nvPr/>
        </p:nvSpPr>
        <p:spPr>
          <a:xfrm>
            <a:off x="609600" y="2332732"/>
            <a:ext cx="7924800" cy="1493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80"/>
              </a:lnSpc>
              <a:buNone/>
            </a:pPr>
            <a:r>
              <a:rPr lang="en-US" sz="5880" dirty="0">
                <a:solidFill>
                  <a:srgbClr val="2563EB"/>
                </a:solidFill>
                <a:latin typeface="+mj-lt"/>
                <a:ea typeface="Archivo Black" pitchFamily="34" charset="-122"/>
                <a:cs typeface="Archivo Black" pitchFamily="34" charset="-120"/>
              </a:rPr>
              <a:t>Sales Dashboard Final Presentation</a:t>
            </a:r>
            <a:endParaRPr lang="en-US" sz="588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3978771"/>
            <a:ext cx="7924800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40"/>
              </a:lnSpc>
              <a:buNone/>
            </a:pPr>
            <a:r>
              <a:rPr lang="en-US" sz="156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problem, insights, demo, recommendations, and ROI</a:t>
            </a:r>
            <a:endParaRPr lang="en-US" sz="15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-563463"/>
            <a:ext cx="2881610" cy="350193"/>
          </a:xfrm>
          <a:prstGeom prst="roundRect">
            <a:avLst>
              <a:gd name="adj" fmla="val 2608520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lIns="121920" tIns="121920" rIns="121920" bIns="12192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FEF3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Business Problem Understanding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986879"/>
            <a:ext cx="3848100" cy="2312491"/>
          </a:xfrm>
          <a:prstGeom prst="roundRect">
            <a:avLst>
              <a:gd name="adj" fmla="val 86992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29150" y="986878"/>
            <a:ext cx="3848100" cy="2312491"/>
          </a:xfrm>
          <a:prstGeom prst="roundRect">
            <a:avLst>
              <a:gd name="adj" fmla="val 86992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583700"/>
            <a:ext cx="3848100" cy="1512391"/>
          </a:xfrm>
          <a:prstGeom prst="roundRect">
            <a:avLst>
              <a:gd name="adj" fmla="val 133013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86302" y="3629025"/>
            <a:ext cx="3848100" cy="1512391"/>
          </a:xfrm>
          <a:prstGeom prst="roundRect">
            <a:avLst>
              <a:gd name="adj" fmla="val 133013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-22771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dirty="0">
                <a:solidFill>
                  <a:srgbClr val="1F2937"/>
                </a:solidFill>
                <a:latin typeface="+mj-lt"/>
                <a:ea typeface="Archivo Black" pitchFamily="34" charset="-122"/>
                <a:cs typeface="Archivo Black" pitchFamily="34" charset="-120"/>
              </a:rPr>
              <a:t>What the business needed to solve</a:t>
            </a:r>
            <a:endParaRPr lang="en-US" sz="3600" dirty="0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01441" y="1271209"/>
            <a:ext cx="34705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challenge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5760" y="1562809"/>
            <a:ext cx="3402509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Turn raw sales records into a decision-ready view of revenue, profitability, product demand, customer segments, and regional performance.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06691" y="1296109"/>
            <a:ext cx="34705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questions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77146" y="1581967"/>
            <a:ext cx="3402509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 products and regions drive the most revenue?</a:t>
            </a:r>
            <a:endParaRPr lang="en-US" sz="1200" dirty="0"/>
          </a:p>
          <a:p>
            <a:pPr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 segments are most valuable?</a:t>
            </a:r>
            <a:endParaRPr lang="en-US" sz="1200" dirty="0"/>
          </a:p>
          <a:p>
            <a:pPr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is profit under pressure?</a:t>
            </a:r>
            <a:endParaRPr lang="en-US" sz="1200" dirty="0"/>
          </a:p>
          <a:p>
            <a:pPr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actions can improve growth and margin?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5760" y="3780050"/>
            <a:ext cx="34705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Need from the dashboard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5191" y="4228520"/>
            <a:ext cx="34025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single dashboard that gives leadership quick KPI visibility and lets them drill into trends, categories, and geography.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06691" y="3813721"/>
            <a:ext cx="34705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Success metric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06691" y="4228520"/>
            <a:ext cx="34025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Better prioritization of winning products, improved regional focus, and higher returns from pricing and mix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-536079"/>
            <a:ext cx="1782217" cy="350193"/>
          </a:xfrm>
          <a:prstGeom prst="roundRect">
            <a:avLst>
              <a:gd name="adj" fmla="val 2608520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lIns="121920" tIns="121920" rIns="121920" bIns="12192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FEF3C7"/>
                </a:solidFill>
                <a:ea typeface="DM Sans" pitchFamily="34" charset="-122"/>
                <a:cs typeface="DM Sans" pitchFamily="34" charset="-120"/>
              </a:rPr>
              <a:t>2. Dataset Overview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995214"/>
            <a:ext cx="1838325" cy="1876574"/>
          </a:xfrm>
          <a:prstGeom prst="roundRect">
            <a:avLst>
              <a:gd name="adj" fmla="val 109430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638425" y="995214"/>
            <a:ext cx="1838325" cy="1876574"/>
          </a:xfrm>
          <a:prstGeom prst="roundRect">
            <a:avLst>
              <a:gd name="adj" fmla="val 109430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0" y="995214"/>
            <a:ext cx="1838325" cy="1876574"/>
          </a:xfrm>
          <a:prstGeom prst="roundRect">
            <a:avLst>
              <a:gd name="adj" fmla="val 109430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96075" y="995214"/>
            <a:ext cx="1838325" cy="1876574"/>
          </a:xfrm>
          <a:prstGeom prst="roundRect">
            <a:avLst>
              <a:gd name="adj" fmla="val 109430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4614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dirty="0">
                <a:solidFill>
                  <a:srgbClr val="1F2937"/>
                </a:solidFill>
                <a:ea typeface="Archivo Black" pitchFamily="34" charset="-122"/>
                <a:cs typeface="Archivo Black" pitchFamily="34" charset="-120"/>
              </a:rPr>
              <a:t>What the dataset contains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18468" y="1218009"/>
            <a:ext cx="14205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dirty="0">
                <a:solidFill>
                  <a:srgbClr val="1F2937"/>
                </a:solidFill>
                <a:ea typeface="DM Sans" pitchFamily="34" charset="-122"/>
                <a:cs typeface="DM Sans" pitchFamily="34" charset="-120"/>
              </a:rPr>
              <a:t>🧾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18468" y="1675209"/>
            <a:ext cx="14205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ea typeface="DM Sans" pitchFamily="34" charset="-122"/>
                <a:cs typeface="DM Sans" pitchFamily="34" charset="-120"/>
              </a:rPr>
              <a:t>Orders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32396" y="2018109"/>
            <a:ext cx="1392734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6"/>
              </a:lnSpc>
              <a:buNone/>
            </a:pPr>
            <a:r>
              <a:rPr lang="en-US" sz="1104" dirty="0">
                <a:solidFill>
                  <a:srgbClr val="64748B"/>
                </a:solidFill>
                <a:ea typeface="DM Sans" pitchFamily="34" charset="-122"/>
                <a:cs typeface="DM Sans" pitchFamily="34" charset="-120"/>
              </a:rPr>
              <a:t>Transaction-level sales records</a:t>
            </a:r>
            <a:endParaRPr lang="en-US" sz="1104" dirty="0"/>
          </a:p>
        </p:txBody>
      </p:sp>
      <p:sp>
        <p:nvSpPr>
          <p:cNvPr id="13" name="Text 11"/>
          <p:cNvSpPr/>
          <p:nvPr/>
        </p:nvSpPr>
        <p:spPr>
          <a:xfrm>
            <a:off x="2847293" y="1218009"/>
            <a:ext cx="14205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dirty="0">
                <a:solidFill>
                  <a:srgbClr val="1F2937"/>
                </a:solidFill>
                <a:ea typeface="DM Sans" pitchFamily="34" charset="-122"/>
                <a:cs typeface="DM Sans" pitchFamily="34" charset="-120"/>
              </a:rPr>
              <a:t>📦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847293" y="1675209"/>
            <a:ext cx="14205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ea typeface="DM Sans" pitchFamily="34" charset="-122"/>
                <a:cs typeface="DM Sans" pitchFamily="34" charset="-120"/>
              </a:rPr>
              <a:t>Products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2861221" y="2018109"/>
            <a:ext cx="1392734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6"/>
              </a:lnSpc>
              <a:buNone/>
            </a:pPr>
            <a:r>
              <a:rPr lang="en-US" sz="1104" dirty="0">
                <a:solidFill>
                  <a:srgbClr val="64748B"/>
                </a:solidFill>
                <a:ea typeface="DM Sans" pitchFamily="34" charset="-122"/>
                <a:cs typeface="DM Sans" pitchFamily="34" charset="-120"/>
              </a:rPr>
              <a:t>Product, category, and sales values</a:t>
            </a:r>
            <a:endParaRPr lang="en-US" sz="1104" dirty="0"/>
          </a:p>
        </p:txBody>
      </p:sp>
      <p:sp>
        <p:nvSpPr>
          <p:cNvPr id="16" name="Text 14"/>
          <p:cNvSpPr/>
          <p:nvPr/>
        </p:nvSpPr>
        <p:spPr>
          <a:xfrm>
            <a:off x="4876118" y="1218009"/>
            <a:ext cx="14205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dirty="0">
                <a:solidFill>
                  <a:srgbClr val="1F2937"/>
                </a:solidFill>
                <a:ea typeface="DM Sans" pitchFamily="34" charset="-122"/>
                <a:cs typeface="DM Sans" pitchFamily="34" charset="-120"/>
              </a:rPr>
              <a:t>👥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876118" y="1675209"/>
            <a:ext cx="14205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ea typeface="DM Sans" pitchFamily="34" charset="-122"/>
                <a:cs typeface="DM Sans" pitchFamily="34" charset="-120"/>
              </a:rPr>
              <a:t>Customer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4890046" y="2018109"/>
            <a:ext cx="1392734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6"/>
              </a:lnSpc>
              <a:buNone/>
            </a:pPr>
            <a:r>
              <a:rPr lang="en-US" sz="1104" dirty="0">
                <a:solidFill>
                  <a:srgbClr val="64748B"/>
                </a:solidFill>
                <a:ea typeface="DM Sans" pitchFamily="34" charset="-122"/>
                <a:cs typeface="DM Sans" pitchFamily="34" charset="-120"/>
              </a:rPr>
              <a:t>Customer segments for analysis</a:t>
            </a:r>
            <a:endParaRPr lang="en-US" sz="1104" dirty="0"/>
          </a:p>
        </p:txBody>
      </p:sp>
      <p:sp>
        <p:nvSpPr>
          <p:cNvPr id="19" name="Text 17"/>
          <p:cNvSpPr/>
          <p:nvPr/>
        </p:nvSpPr>
        <p:spPr>
          <a:xfrm>
            <a:off x="6904943" y="1218009"/>
            <a:ext cx="14205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dirty="0">
                <a:solidFill>
                  <a:srgbClr val="1F2937"/>
                </a:solidFill>
                <a:ea typeface="DM Sans" pitchFamily="34" charset="-122"/>
                <a:cs typeface="DM Sans" pitchFamily="34" charset="-120"/>
              </a:rPr>
              <a:t>🌍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6904943" y="1675209"/>
            <a:ext cx="14205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ea typeface="DM Sans" pitchFamily="34" charset="-122"/>
                <a:cs typeface="DM Sans" pitchFamily="34" charset="-120"/>
              </a:rPr>
              <a:t>Regions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6918871" y="2018109"/>
            <a:ext cx="1392734" cy="630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6"/>
              </a:lnSpc>
              <a:buNone/>
            </a:pPr>
            <a:r>
              <a:rPr lang="en-US" sz="1104" dirty="0">
                <a:solidFill>
                  <a:srgbClr val="64748B"/>
                </a:solidFill>
                <a:ea typeface="DM Sans" pitchFamily="34" charset="-122"/>
                <a:cs typeface="DM Sans" pitchFamily="34" charset="-120"/>
              </a:rPr>
              <a:t>Geographic performance mapping</a:t>
            </a:r>
            <a:endParaRPr lang="en-US" sz="1104" dirty="0"/>
          </a:p>
        </p:txBody>
      </p:sp>
      <p:sp>
        <p:nvSpPr>
          <p:cNvPr id="22" name="Text 20"/>
          <p:cNvSpPr/>
          <p:nvPr/>
        </p:nvSpPr>
        <p:spPr>
          <a:xfrm>
            <a:off x="832396" y="3094583"/>
            <a:ext cx="34705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ea typeface="DM Sans" pitchFamily="34" charset="-122"/>
                <a:cs typeface="DM Sans" pitchFamily="34" charset="-120"/>
              </a:rPr>
              <a:t>Key fields used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18468" y="3591112"/>
            <a:ext cx="3402509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475569"/>
                </a:solidFill>
                <a:ea typeface="DM Sans" pitchFamily="34" charset="-122"/>
                <a:cs typeface="DM Sans" pitchFamily="34" charset="-120"/>
              </a:rPr>
              <a:t>Order date, order ID, product name, category, region, customer segment, sales, and estimated profit. These fields support trend analysis, top-product ranking, segment mix, and profitability tracking.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448" y="3055739"/>
            <a:ext cx="34705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ea typeface="DM Sans" pitchFamily="34" charset="-122"/>
                <a:cs typeface="DM Sans" pitchFamily="34" charset="-120"/>
              </a:rPr>
              <a:t>Preparation steps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448" y="3447138"/>
            <a:ext cx="3402509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475569"/>
                </a:solidFill>
                <a:ea typeface="DM Sans" pitchFamily="34" charset="-122"/>
                <a:cs typeface="DM Sans" pitchFamily="34" charset="-120"/>
              </a:rPr>
              <a:t>Parsed dates for monthly trend analysis.</a:t>
            </a:r>
            <a:endParaRPr lang="en-US" sz="1200" dirty="0"/>
          </a:p>
          <a:p>
            <a:pPr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475569"/>
                </a:solidFill>
                <a:ea typeface="DM Sans" pitchFamily="34" charset="-122"/>
                <a:cs typeface="DM Sans" pitchFamily="34" charset="-120"/>
              </a:rPr>
              <a:t>Checked for missing or invalid order dates.</a:t>
            </a:r>
            <a:endParaRPr lang="en-US" sz="1200" dirty="0"/>
          </a:p>
          <a:p>
            <a:pPr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475569"/>
                </a:solidFill>
                <a:ea typeface="DM Sans" pitchFamily="34" charset="-122"/>
                <a:cs typeface="DM Sans" pitchFamily="34" charset="-120"/>
              </a:rPr>
              <a:t>Aggregated sales by month, region, segment, and product.</a:t>
            </a:r>
            <a:endParaRPr lang="en-US" sz="1200" dirty="0"/>
          </a:p>
          <a:p>
            <a:pPr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475569"/>
                </a:solidFill>
                <a:ea typeface="DM Sans" pitchFamily="34" charset="-122"/>
                <a:cs typeface="DM Sans" pitchFamily="34" charset="-120"/>
              </a:rPr>
              <a:t>Derived KPI metrics like revenue, profit, orders, and margin.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-392013"/>
            <a:ext cx="1557040" cy="350193"/>
          </a:xfrm>
          <a:prstGeom prst="roundRect">
            <a:avLst>
              <a:gd name="adj" fmla="val 2608520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lIns="121920" tIns="121920" rIns="121920" bIns="12192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FEF3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 Insights Found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499963" y="1027881"/>
            <a:ext cx="3848100" cy="1740991"/>
          </a:xfrm>
          <a:prstGeom prst="roundRect">
            <a:avLst>
              <a:gd name="adj" fmla="val 115548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38106" y="1027880"/>
            <a:ext cx="3848100" cy="1740991"/>
          </a:xfrm>
          <a:prstGeom prst="roundRect">
            <a:avLst>
              <a:gd name="adj" fmla="val 115548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9963" y="3146970"/>
            <a:ext cx="3848100" cy="1740991"/>
          </a:xfrm>
          <a:prstGeom prst="roundRect">
            <a:avLst>
              <a:gd name="adj" fmla="val 115548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38106" y="3146969"/>
            <a:ext cx="3848100" cy="1740991"/>
          </a:xfrm>
          <a:prstGeom prst="roundRect">
            <a:avLst>
              <a:gd name="adj" fmla="val 115548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148679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dirty="0">
                <a:solidFill>
                  <a:srgbClr val="1F2937"/>
                </a:solidFill>
                <a:ea typeface="Archivo Black" pitchFamily="34" charset="-122"/>
                <a:cs typeface="Archivo Black" pitchFamily="34" charset="-120"/>
              </a:rPr>
              <a:t>Key patterns surfaced from the analysis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67780" y="1247571"/>
            <a:ext cx="34705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ea typeface="DM Sans" pitchFamily="34" charset="-122"/>
                <a:cs typeface="DM Sans" pitchFamily="34" charset="-120"/>
              </a:rPr>
              <a:t>Revenue momentum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7780" y="1558100"/>
            <a:ext cx="34025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Monthly trend analysis highlights that sales performance changes over time, making time-based tracking essential for spotting growth periods and weak months early.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37759" y="1245491"/>
            <a:ext cx="34705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ea typeface="DM Sans" pitchFamily="34" charset="-122"/>
                <a:cs typeface="DM Sans" pitchFamily="34" charset="-120"/>
              </a:rPr>
              <a:t>Product concentration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37759" y="1563567"/>
            <a:ext cx="34025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smaller set of top products contributes a disproportionate share of revenue, which means product ranking is critical for promotions and inventory planning.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7779" y="3381374"/>
            <a:ext cx="34705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ea typeface="DM Sans" pitchFamily="34" charset="-122"/>
                <a:cs typeface="DM Sans" pitchFamily="34" charset="-120"/>
              </a:rPr>
              <a:t>Segment variation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7779" y="3772719"/>
            <a:ext cx="34025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segments do not contribute equally; segment-level sales comparison helps identify where to focus acquisition and retention effort.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09096" y="3460575"/>
            <a:ext cx="34705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ea typeface="DM Sans" pitchFamily="34" charset="-122"/>
                <a:cs typeface="DM Sans" pitchFamily="34" charset="-120"/>
              </a:rPr>
              <a:t>Regional imbalance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09096" y="3796687"/>
            <a:ext cx="34025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Region-wise revenue analysis shows uneven performance, creating an opportunity to replicate strong-region playbooks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-619423"/>
            <a:ext cx="1557040" cy="350193"/>
          </a:xfrm>
          <a:prstGeom prst="roundRect">
            <a:avLst>
              <a:gd name="adj" fmla="val 2608520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lIns="121920" tIns="121920" rIns="121920" bIns="12192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FEF3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 Insights Found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599" y="873770"/>
            <a:ext cx="2489150" cy="2875270"/>
          </a:xfrm>
          <a:prstGeom prst="roundRect">
            <a:avLst>
              <a:gd name="adj" fmla="val 80818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47786" y="854721"/>
            <a:ext cx="2489150" cy="2655391"/>
          </a:xfrm>
          <a:prstGeom prst="roundRect">
            <a:avLst>
              <a:gd name="adj" fmla="val 80818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36062" y="873770"/>
            <a:ext cx="2489299" cy="2655391"/>
          </a:xfrm>
          <a:prstGeom prst="roundRect">
            <a:avLst>
              <a:gd name="adj" fmla="val 80813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0322" y="3781665"/>
            <a:ext cx="7924800" cy="1281410"/>
          </a:xfrm>
          <a:prstGeom prst="roundRect">
            <a:avLst>
              <a:gd name="adj" fmla="val 156990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-7873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dirty="0">
                <a:solidFill>
                  <a:srgbClr val="1F2937"/>
                </a:solidFill>
                <a:ea typeface="Archivo Black" pitchFamily="34" charset="-122"/>
                <a:cs typeface="Archivo Black" pitchFamily="34" charset="-120"/>
              </a:rPr>
              <a:t>What these insights mean for the business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14320" y="1213768"/>
            <a:ext cx="20844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🎯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56914" y="1632868"/>
            <a:ext cx="20844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investment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56914" y="1845572"/>
            <a:ext cx="20435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Prioritize top-selling products and strong-performing segments because they are the fastest levers for near-term revenue improvement.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41106" y="1219912"/>
            <a:ext cx="20844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⚠️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50146" y="1645294"/>
            <a:ext cx="20844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Protect margin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50220" y="1877616"/>
            <a:ext cx="204355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sales alone are not enough; management should compare revenue and estimated profit together before scaling discounts.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0540" y="1213768"/>
            <a:ext cx="208458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🗺️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338420" y="1605513"/>
            <a:ext cx="20845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weak regions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8857" y="1858017"/>
            <a:ext cx="20437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Lower-performing regions need tailored offers, stronger distribution support, and local product assortment optimization.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56914" y="3968778"/>
            <a:ext cx="7479209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broader takeaway is that dashboard visibility shifts decision-making from reactive reporting to proactive action: identify winners, isolate weak spots, and respond faster with measurable commercial moves.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-1325463"/>
            <a:ext cx="1690390" cy="350193"/>
          </a:xfrm>
          <a:prstGeom prst="roundRect">
            <a:avLst>
              <a:gd name="adj" fmla="val 2608520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lIns="121920" tIns="121920" rIns="121920" bIns="12192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FEF3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4. Dashboard Demo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13930" y="2947358"/>
            <a:ext cx="7479209" cy="171450"/>
          </a:xfrm>
          <a:prstGeom prst="roundRect">
            <a:avLst>
              <a:gd name="adj" fmla="val 53280000"/>
            </a:avLst>
          </a:prstGeom>
          <a:solidFill>
            <a:srgbClr val="0F172A">
              <a:alpha val="8000"/>
            </a:srgbClr>
          </a:solidFill>
          <a:ln/>
        </p:spPr>
        <p:txBody>
          <a:bodyPr wrap="none" lIns="0" tIns="0" rIns="0" bIns="0" rtlCol="0" anchor="ctr">
            <a:normAutofit fontScale="47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05607" y="3542887"/>
            <a:ext cx="7479209" cy="171450"/>
          </a:xfrm>
          <a:prstGeom prst="roundRect">
            <a:avLst>
              <a:gd name="adj" fmla="val 50000"/>
            </a:avLst>
          </a:prstGeom>
          <a:solidFill>
            <a:srgbClr val="0F172A">
              <a:alpha val="8000"/>
            </a:srgbClr>
          </a:solidFill>
          <a:ln/>
        </p:spPr>
        <p:txBody>
          <a:bodyPr wrap="none" lIns="0" tIns="0" rIns="0" bIns="0" rtlCol="0" anchor="ctr">
            <a:normAutofit fontScale="47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13930" y="4120587"/>
            <a:ext cx="7479209" cy="171450"/>
          </a:xfrm>
          <a:prstGeom prst="roundRect">
            <a:avLst>
              <a:gd name="adj" fmla="val 53280000"/>
            </a:avLst>
          </a:prstGeom>
          <a:solidFill>
            <a:srgbClr val="0F172A">
              <a:alpha val="8000"/>
            </a:srgbClr>
          </a:solidFill>
          <a:ln/>
        </p:spPr>
        <p:txBody>
          <a:bodyPr wrap="none" lIns="0" tIns="0" rIns="0" bIns="0" rtlCol="0" anchor="ctr">
            <a:normAutofit fontScale="47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13930" y="4716116"/>
            <a:ext cx="7479209" cy="171450"/>
          </a:xfrm>
          <a:prstGeom prst="roundRect">
            <a:avLst>
              <a:gd name="adj" fmla="val 53280000"/>
            </a:avLst>
          </a:prstGeom>
          <a:solidFill>
            <a:srgbClr val="0F172A">
              <a:alpha val="8000"/>
            </a:srgbClr>
          </a:solidFill>
          <a:ln/>
        </p:spPr>
        <p:txBody>
          <a:bodyPr wrap="none" lIns="0" tIns="0" rIns="0" bIns="0" rtlCol="0" anchor="ctr">
            <a:normAutofit fontScale="47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9600" y="-47213"/>
            <a:ext cx="7924800" cy="66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dirty="0">
                <a:solidFill>
                  <a:srgbClr val="1F2937"/>
                </a:solidFill>
                <a:ea typeface="Archivo Black" pitchFamily="34" charset="-122"/>
                <a:cs typeface="Archivo Black" pitchFamily="34" charset="-120"/>
              </a:rPr>
              <a:t>How the dashboard is structured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09600" y="737558"/>
            <a:ext cx="34705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KPI layer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600" y="1080458"/>
            <a:ext cx="3402509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revenue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profit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order count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Profit margin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90630" y="796379"/>
            <a:ext cx="34705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 layer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90630" y="1080458"/>
            <a:ext cx="3402509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Monthly revenue trend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10 products by revenue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Sales by customer segment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by region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05607" y="2242508"/>
            <a:ext cx="7628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Typical demo flow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05607" y="2623508"/>
            <a:ext cx="5926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KPI scan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12494" y="2633033"/>
            <a:ext cx="388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5607" y="3225162"/>
            <a:ext cx="10298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Trend analysis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75228" y="3254177"/>
            <a:ext cx="3206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85%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3930" y="3797245"/>
            <a:ext cx="1287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products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75228" y="3797245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75%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3930" y="4358533"/>
            <a:ext cx="18362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Segment/region drilldown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99743" y="4338975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90%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-163413"/>
            <a:ext cx="1793528" cy="350193"/>
          </a:xfrm>
          <a:prstGeom prst="roundRect">
            <a:avLst>
              <a:gd name="adj" fmla="val 2608520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lIns="121920" tIns="121920" rIns="121920" bIns="12192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FEF3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5. Recommendations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743243" y="1210631"/>
            <a:ext cx="7924800" cy="797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dirty="0">
                <a:solidFill>
                  <a:srgbClr val="1F2937"/>
                </a:solidFill>
                <a:ea typeface="Archivo Black" pitchFamily="34" charset="-122"/>
                <a:cs typeface="Archivo Black" pitchFamily="34" charset="-120"/>
              </a:rPr>
              <a:t>Actions the business should take next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32396" y="2276475"/>
            <a:ext cx="34705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Double down on winners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2396" y="2657475"/>
            <a:ext cx="34025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Increase visibility and stock support for top-performing products. Bundle best-sellers with complementary items to lift average order value.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09096" y="2276475"/>
            <a:ext cx="34705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Improve underperforming regions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09096" y="2657475"/>
            <a:ext cx="34025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Replicate successful regional campaigns, review distribution gaps, and localize offers where revenue trails the strongest regions.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2396" y="4017466"/>
            <a:ext cx="34705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 Segment-specific campaigns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2396" y="4398466"/>
            <a:ext cx="34025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Tailor promotions and messaging by customer segment instead of using the same campaign for every audience.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09096" y="4017466"/>
            <a:ext cx="34705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4. Watch margin beside revenue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09096" y="4398466"/>
            <a:ext cx="34025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profit and margin alongside sales in all reviews so growth decisions do not erode profitability.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-453926"/>
            <a:ext cx="2442716" cy="350193"/>
          </a:xfrm>
          <a:prstGeom prst="roundRect">
            <a:avLst>
              <a:gd name="adj" fmla="val 2608520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lIns="121920" tIns="121920" rIns="121920" bIns="12192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FEF3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6. ROI Impact of Suggestions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475957" y="3121181"/>
            <a:ext cx="7924800" cy="1941016"/>
          </a:xfrm>
          <a:prstGeom prst="roundRect">
            <a:avLst>
              <a:gd name="adj" fmla="val 103641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86767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dirty="0">
                <a:solidFill>
                  <a:srgbClr val="1F2937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Expected commercial impact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52833" y="946228"/>
            <a:ext cx="20435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dirty="0">
                <a:solidFill>
                  <a:srgbClr val="1F2937"/>
                </a:solidFill>
                <a:ea typeface="Archivo Black" pitchFamily="34" charset="-122"/>
                <a:cs typeface="Archivo Black" pitchFamily="34" charset="-120"/>
              </a:rPr>
              <a:t>↑ Revenue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32396" y="1974928"/>
            <a:ext cx="20435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Better focus on best-selling products and strong customer segments should increase top-line efficiency.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50145" y="889050"/>
            <a:ext cx="20435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dirty="0">
                <a:solidFill>
                  <a:srgbClr val="1F2937"/>
                </a:solidFill>
                <a:ea typeface="Archivo Black" pitchFamily="34" charset="-122"/>
                <a:cs typeface="Archivo Black" pitchFamily="34" charset="-120"/>
              </a:rPr>
              <a:t>↑ </a:t>
            </a:r>
          </a:p>
          <a:p>
            <a:pPr marL="0" indent="0" algn="ctr">
              <a:lnSpc>
                <a:spcPts val="3600"/>
              </a:lnSpc>
              <a:buNone/>
            </a:pPr>
            <a:r>
              <a:rPr lang="en-US" sz="3600" dirty="0">
                <a:solidFill>
                  <a:srgbClr val="1F2937"/>
                </a:solidFill>
                <a:ea typeface="Archivo Black" pitchFamily="34" charset="-122"/>
                <a:cs typeface="Archivo Black" pitchFamily="34" charset="-120"/>
              </a:rPr>
              <a:t>Margin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50146" y="1974928"/>
            <a:ext cx="20435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Adding profit visibility to every review should reduce low-value discounting and improve commercial quality.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7897" y="889050"/>
            <a:ext cx="20845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dirty="0">
                <a:solidFill>
                  <a:srgbClr val="1F2937"/>
                </a:solidFill>
                <a:ea typeface="Archivo Black" pitchFamily="34" charset="-122"/>
                <a:cs typeface="Archivo Black" pitchFamily="34" charset="-120"/>
              </a:rPr>
              <a:t>↑ </a:t>
            </a:r>
          </a:p>
          <a:p>
            <a:pPr marL="0" indent="0" algn="ctr">
              <a:lnSpc>
                <a:spcPts val="3600"/>
              </a:lnSpc>
              <a:buNone/>
            </a:pPr>
            <a:r>
              <a:rPr lang="en-US" sz="3600" dirty="0">
                <a:solidFill>
                  <a:srgbClr val="1F2937"/>
                </a:solidFill>
                <a:ea typeface="Archivo Black" pitchFamily="34" charset="-122"/>
                <a:cs typeface="Archivo Black" pitchFamily="34" charset="-120"/>
              </a:rPr>
              <a:t>Speed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67896" y="1974928"/>
            <a:ext cx="20437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Dashboard-led reviews shorten reporting time and help teams respond faster to market shifts.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9005" y="3233909"/>
            <a:ext cx="7628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ea typeface="DM Sans" pitchFamily="34" charset="-122"/>
                <a:cs typeface="DM Sans" pitchFamily="34" charset="-120"/>
              </a:rPr>
              <a:t>Simple ROI logic for the business team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319" y="3549834"/>
            <a:ext cx="7479209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the dashboard helps the business raise revenue from top products, recover weak-region sales, and improve profit discipline, the return comes from both sales uplift and time saved in decision-making. This presentation keeps ROI directional because exact uplift should be quantified using baseline revenue and the company’s target improvement assumptions.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739</Words>
  <Application>Microsoft Office PowerPoint</Application>
  <PresentationFormat>On-screen Show (16:9)</PresentationFormat>
  <Paragraphs>110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Archivo Black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Aditya Naveen Sharma</cp:lastModifiedBy>
  <cp:revision>2</cp:revision>
  <dcterms:created xsi:type="dcterms:W3CDTF">2026-06-12T08:23:12Z</dcterms:created>
  <dcterms:modified xsi:type="dcterms:W3CDTF">2026-06-12T08:45:51Z</dcterms:modified>
</cp:coreProperties>
</file>